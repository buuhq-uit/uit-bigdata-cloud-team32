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5" r:id="rId7"/>
    <p:sldId id="266" r:id="rId8"/>
    <p:sldId id="267" r:id="rId9"/>
    <p:sldId id="268" r:id="rId10"/>
    <p:sldId id="269" r:id="rId11"/>
    <p:sldId id="272" r:id="rId12"/>
    <p:sldId id="273" r:id="rId13"/>
    <p:sldId id="270" r:id="rId14"/>
    <p:sldId id="271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6879" y="638385"/>
            <a:ext cx="4130063" cy="78970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 CÁO MÔN HỌC: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2348" y="5495424"/>
            <a:ext cx="5725826" cy="121573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nhóm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32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Huỳnh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quốc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bữu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240104026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Trần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võ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thiên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</a:t>
            </a:r>
            <a:r>
              <a:rPr lang="vi-V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240104026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BE50C9-20AC-EDF5-B2DE-A3BFBA9A630C}"/>
              </a:ext>
            </a:extLst>
          </p:cNvPr>
          <p:cNvSpPr txBox="1">
            <a:spLocks/>
          </p:cNvSpPr>
          <p:nvPr/>
        </p:nvSpPr>
        <p:spPr>
          <a:xfrm>
            <a:off x="1323888" y="1119276"/>
            <a:ext cx="10402710" cy="11064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BIG DATA AND CLOUD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COMPUTING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23E9B1-8345-8161-3F80-38E77146F7EA}"/>
              </a:ext>
            </a:extLst>
          </p:cNvPr>
          <p:cNvSpPr txBox="1">
            <a:spLocks/>
          </p:cNvSpPr>
          <p:nvPr/>
        </p:nvSpPr>
        <p:spPr>
          <a:xfrm>
            <a:off x="4599447" y="2432151"/>
            <a:ext cx="2904477" cy="6062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6D0FE9-EBC1-0CFA-0956-F0C80A8EB7FC}"/>
              </a:ext>
            </a:extLst>
          </p:cNvPr>
          <p:cNvSpPr txBox="1">
            <a:spLocks/>
          </p:cNvSpPr>
          <p:nvPr/>
        </p:nvSpPr>
        <p:spPr>
          <a:xfrm>
            <a:off x="940129" y="2986273"/>
            <a:ext cx="11170227" cy="17976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 HIỆN BẤT THƯỜNG TRONG DỮ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3800" b="1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3800" b="1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vi-VN" sz="3800" b="1" dirty="0" smtClean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IOT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nhiệt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...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 DỤNG </a:t>
            </a:r>
            <a:r>
              <a:rPr lang="vi-VN" sz="3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SPARK VÀ KAFKA</a:t>
            </a:r>
            <a:endParaRPr lang="en-US" sz="38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3B7BF4A-1ECF-FBD0-260E-CA5FAC8BD357}"/>
              </a:ext>
            </a:extLst>
          </p:cNvPr>
          <p:cNvSpPr txBox="1">
            <a:spLocks/>
          </p:cNvSpPr>
          <p:nvPr/>
        </p:nvSpPr>
        <p:spPr>
          <a:xfrm>
            <a:off x="6606886" y="5533373"/>
            <a:ext cx="5725826" cy="10426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Giảng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Ts. Nguyễn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thanh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bình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dung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3D2EE8-D8CF-0051-3E36-A48046D6B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781617"/>
            <a:ext cx="11445730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Thu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IoT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Phương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Trực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1AB5-DB60-61D9-F252-9975763DD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719" y="254837"/>
            <a:ext cx="9905998" cy="919335"/>
          </a:xfrm>
        </p:spPr>
        <p:txBody>
          <a:bodyPr>
            <a:normAutofit/>
          </a:bodyPr>
          <a:lstStyle/>
          <a:p>
            <a:r>
              <a:rPr lang="en-US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 LỰC VÀ MỤC TIÊU</a:t>
            </a:r>
            <a:endParaRPr lang="en-US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C6331C-7B96-5381-EAEB-3C3922914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76" y="1528944"/>
            <a:ext cx="514162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nghiệp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môi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khối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lượng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lớn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Các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hệ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truyền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chủ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yếu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sớm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rủi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D6BB476-20CE-4615-2ED4-9B2E57ED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277" y="1528945"/>
            <a:ext cx="514162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Xây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trúc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Big Data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IoT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lô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nhiệt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sát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71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353AD-4E28-8AC5-0EC3-3513815B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1868"/>
            <a:ext cx="9905998" cy="914595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Tổng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DE083EF-55B8-0515-5A2C-76BEB1DD7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04" y="2130294"/>
            <a:ext cx="4563196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tách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rõ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Ingestion - Processing - Storage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tâm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rộng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dễ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hợp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331559-E240-EAAB-C376-BE70BB88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709" y="820050"/>
            <a:ext cx="6830291" cy="603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E21B-8E82-9C17-681A-73F2AD83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9363"/>
            <a:ext cx="9905998" cy="1478570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bị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phần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cứng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(sensors)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C3A49-ABB3-BB9E-EE66-1DBDFCDB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23" y="1432547"/>
            <a:ext cx="9823776" cy="511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0C94-A090-539F-171E-C619F014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7479-E693-086E-E3EB-F83732DA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(Ingestion)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816D7D-26CC-C2B4-7EAC-2026146103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4540" y="2830733"/>
            <a:ext cx="8761053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ESP32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thập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biến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Ingress REST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nhận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API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trò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 Producer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gửi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topic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iot.sensor.raw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5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C818-AE80-2A6D-DA9E-65929914F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D5810-97A5-928F-42DE-F57947BC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(Speed Layer)</a:t>
            </a:r>
            <a:endParaRPr lang="en-US" sz="28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3C78885-ABB6-92E7-CC66-3CD0B8D301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7667" y="2692234"/>
            <a:ext cx="7524605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Spark Structured Streaming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thụ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Kafka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đặc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trên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cửa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sổ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ghi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InfluxDB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PostgreSQL</a:t>
            </a:r>
          </a:p>
        </p:txBody>
      </p:sp>
    </p:spTree>
    <p:extLst>
      <p:ext uri="{BB962C8B-B14F-4D97-AF65-F5344CB8AC3E}">
        <p14:creationId xmlns:p14="http://schemas.microsoft.com/office/powerpoint/2010/main" val="116283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F5279-548B-04B2-E053-643EEB44C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CB61E-DE7F-7D32-9FDD-E0A067E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lô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(Batch Layer)</a:t>
            </a:r>
            <a:endParaRPr lang="en-US" sz="28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597FA99-176C-480B-7BA9-7A626281E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554" y="2509553"/>
            <a:ext cx="8367996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Spark Batch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đọc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từ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Lake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kê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dài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(mean, std)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Phân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xu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ngưỡng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Bổ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8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ECE6-4550-2DC2-C531-BE2AC1014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78E5-A53A-6A5D-ED9C-4B81F1DF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1542791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THU THẬP VÀ XỬ LÝ DỮ LIỆU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vi-V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Tầng lưu trữ dữ liệu</a:t>
            </a:r>
            <a:endParaRPr lang="en-US" sz="28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EA82D7D-8D25-E8D2-5B5E-74CB280D7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2420568"/>
            <a:ext cx="9001503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lịch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(Data Lake)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InfluxDB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chuỗi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trúc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kiện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86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1F32-803E-3D6D-6060-6B641E55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369F-D0DF-F358-96EA-9728B1A6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7937"/>
          </a:xfrm>
        </p:spPr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Phương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pháp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bất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thường</a:t>
            </a:r>
            <a:endParaRPr lang="en-US" sz="2800" b="1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170E973-48FB-DB25-768D-541FDE87A075}"/>
              </a:ext>
            </a:extLst>
          </p:cNvPr>
          <p:cNvSpPr txBox="1"/>
          <p:nvPr/>
        </p:nvSpPr>
        <p:spPr>
          <a:xfrm>
            <a:off x="897905" y="2197893"/>
            <a:ext cx="9018315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Phương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pháp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Unsupervised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Sử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dụng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Z-score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Tính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mean, std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theo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sliding window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|Z-score| ≥ 3 → Anomaly</a:t>
            </a:r>
          </a:p>
          <a:p>
            <a:pPr marL="845820" lvl="1" indent="-457200" algn="just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Lưu &amp;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giám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sát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 qua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InfluxDB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Georgia Pro Light"/>
              </a:rPr>
              <a:t>, PostgreSQL</a:t>
            </a:r>
          </a:p>
        </p:txBody>
      </p:sp>
    </p:spTree>
    <p:extLst>
      <p:ext uri="{BB962C8B-B14F-4D97-AF65-F5344CB8AC3E}">
        <p14:creationId xmlns:p14="http://schemas.microsoft.com/office/powerpoint/2010/main" val="2314693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DDFF4-C7B5-2D98-A1E2-3579A380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ABFE-4259-ACDB-DB14-52A9F43B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Trực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hóa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C1EDA67-0D24-2AEC-CB49-92520DD85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907" y="1938053"/>
            <a:ext cx="7481455" cy="204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Grafana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dashboard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thời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thực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dõi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ẩm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đất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Hiển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thị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anomaly score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anomaly flag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cảnh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70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01B6-3E25-25D1-3700-D0332C0F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0D18-9E82-48CF-B77B-DD5EFDA0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4AB8BD-E482-ABF1-3556-267236A95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97" y="977102"/>
            <a:ext cx="5958176" cy="2451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020625-903E-1AA8-72FD-6C8EB45DA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97" y="3523787"/>
            <a:ext cx="4214429" cy="333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CA582-38C6-67C3-FE50-A8496935C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75" y="857794"/>
            <a:ext cx="3887240" cy="3838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3FFA92-CDB3-DE7F-FA3E-9BF95E5DC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3013" y="4371067"/>
            <a:ext cx="5529221" cy="242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76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B7C9-E9DC-1AFC-876D-08EE8675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2E64-3247-EBA8-8045-43CF8FBF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474" y="59559"/>
            <a:ext cx="9905998" cy="1147937"/>
          </a:xfrm>
        </p:spPr>
        <p:txBody>
          <a:bodyPr/>
          <a:lstStyle/>
          <a:p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luận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C2AAD-3F2F-94B4-1280-FC6AC5EDCAC1}"/>
              </a:ext>
            </a:extLst>
          </p:cNvPr>
          <p:cNvSpPr txBox="1"/>
          <p:nvPr/>
        </p:nvSpPr>
        <p:spPr>
          <a:xfrm>
            <a:off x="1226474" y="1028700"/>
            <a:ext cx="10764983" cy="556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Kết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luận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Hệ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thống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hoạt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ổn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định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với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dữ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liệu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realtime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hiện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được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bất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thường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trên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nhiều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loại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cảm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biến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Kiến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trúc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mở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rộng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,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tách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biệt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ingestion – processing – storage</a:t>
            </a:r>
          </a:p>
          <a:p>
            <a:pPr lvl="0">
              <a:lnSpc>
                <a:spcPts val="4480"/>
              </a:lnSpc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Hướng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phát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endParaRPr lang="en-US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Thay Z-score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bằng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Isolation Forest / Autoencoder</a:t>
            </a: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Tích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hợp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MQTT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cho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IoT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thực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tế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DM Sans"/>
            </a:endParaRPr>
          </a:p>
          <a:p>
            <a:pPr lvl="0">
              <a:lnSpc>
                <a:spcPts val="4480"/>
              </a:lnSpc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-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Triển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khai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DM Sans"/>
              </a:rPr>
              <a:t> cloud (AWS / GCP)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6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303C-215E-A093-3C76-80118379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9D75-AB0B-7D42-1E1E-16D35775A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20" y="2715606"/>
            <a:ext cx="6319261" cy="1595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Cảm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thầy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bạn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đã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lắng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nghe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F61C0FA9-45A0-E908-C638-03653B82EFF3}"/>
              </a:ext>
            </a:extLst>
          </p:cNvPr>
          <p:cNvGrpSpPr/>
          <p:nvPr/>
        </p:nvGrpSpPr>
        <p:grpSpPr>
          <a:xfrm>
            <a:off x="7113181" y="0"/>
            <a:ext cx="5078819" cy="6858000"/>
            <a:chOff x="0" y="0"/>
            <a:chExt cx="1170208" cy="1593725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037D61E-232B-FC22-F95F-52BFCA63D881}"/>
                </a:ext>
              </a:extLst>
            </p:cNvPr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9222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276</TotalTime>
  <Words>602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DM Sans</vt:lpstr>
      <vt:lpstr>Georgia Pro Light</vt:lpstr>
      <vt:lpstr>Tahoma</vt:lpstr>
      <vt:lpstr>Trebuchet MS</vt:lpstr>
      <vt:lpstr>Tw Cen MT</vt:lpstr>
      <vt:lpstr>Wingdings</vt:lpstr>
      <vt:lpstr>Circuit</vt:lpstr>
      <vt:lpstr>BÁO CÁO MÔN HỌC: </vt:lpstr>
      <vt:lpstr>Nội dung</vt:lpstr>
      <vt:lpstr>ĐỘNG LỰC VÀ MỤC TIÊU</vt:lpstr>
      <vt:lpstr>Tổng quan kiến trúc hệ thống</vt:lpstr>
      <vt:lpstr>THU THẬP VÀ XỬ LÝ DỮ LIỆU ThiếT bị phần cứng (sensors)</vt:lpstr>
      <vt:lpstr>THU THẬP VÀ XỬ LÝ DỮ LIỆU Tầng thu thập dữ liệu (Ingestion)</vt:lpstr>
      <vt:lpstr>THU THẬP VÀ XỬ LÝ DỮ LIỆU Tầng xử lý thời gian thực (Speed Layer)</vt:lpstr>
      <vt:lpstr>THU THẬP VÀ XỬ LÝ DỮ LIỆU Tầng xử lý theo lô (Batch Layer)</vt:lpstr>
      <vt:lpstr>THU THẬP VÀ XỬ LÝ DỮ LIỆU Tầng lưu trữ dữ liệu</vt:lpstr>
      <vt:lpstr>Phương pháp phát hiện bất thường</vt:lpstr>
      <vt:lpstr>Trực quan hóa và giám sát</vt:lpstr>
      <vt:lpstr>Triển khai và kết quả đạt được</vt:lpstr>
      <vt:lpstr>Kết luận và hướng phát triển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MÔN HỌC:</dc:title>
  <dc:creator>BOO HUYNH</dc:creator>
  <cp:lastModifiedBy>Tran Thien</cp:lastModifiedBy>
  <cp:revision>14</cp:revision>
  <dcterms:created xsi:type="dcterms:W3CDTF">2026-01-17T11:48:25Z</dcterms:created>
  <dcterms:modified xsi:type="dcterms:W3CDTF">2026-01-17T16:28:43Z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