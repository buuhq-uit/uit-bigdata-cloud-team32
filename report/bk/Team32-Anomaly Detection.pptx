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Georgia Pro Light" panose="020B0604020202020204" charset="0"/>
      <p:regular r:id="rId13"/>
    </p:embeddedFont>
    <p:embeddedFont>
      <p:font typeface="Georgia Pro" panose="020B0604020202020204" charset="0"/>
      <p:regular r:id="rId14"/>
    </p:embeddedFont>
    <p:embeddedFont>
      <p:font typeface="DM Sans Bold" panose="020B0604020202020204" charset="0"/>
      <p:regular r:id="rId15"/>
    </p:embeddedFont>
    <p:embeddedFont>
      <p:font typeface="DM Sans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378" y="3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uuhq-uit/uit-bigdata-cloud-team32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934189" cy="10287000"/>
            <a:chOff x="0" y="0"/>
            <a:chExt cx="798599" cy="11847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98599" cy="1184737"/>
            </a:xfrm>
            <a:custGeom>
              <a:avLst/>
              <a:gdLst/>
              <a:ahLst/>
              <a:cxnLst/>
              <a:rect l="l" t="t" r="r" b="b"/>
              <a:pathLst>
                <a:path w="798599" h="1184737">
                  <a:moveTo>
                    <a:pt x="0" y="0"/>
                  </a:moveTo>
                  <a:lnTo>
                    <a:pt x="798599" y="0"/>
                  </a:lnTo>
                  <a:lnTo>
                    <a:pt x="798599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-14347" r="-1434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933523" y="6418967"/>
            <a:ext cx="11386761" cy="3097402"/>
            <a:chOff x="0" y="0"/>
            <a:chExt cx="15182348" cy="4129870"/>
          </a:xfrm>
        </p:grpSpPr>
        <p:sp>
          <p:nvSpPr>
            <p:cNvPr id="5" name="TextBox 5"/>
            <p:cNvSpPr txBox="1"/>
            <p:nvPr/>
          </p:nvSpPr>
          <p:spPr>
            <a:xfrm>
              <a:off x="0" y="681819"/>
              <a:ext cx="15182348" cy="3448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1.TRẦN VÕ BẢO THIÊN - MSHV: 240104052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2.HUỲNH QUỐC BỮU - MSHV: 240104026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                                          </a:t>
              </a:r>
            </a:p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GVHD: TS. NGUYỄN THANH BÌNH</a:t>
              </a:r>
            </a:p>
            <a:p>
              <a:pPr marL="0" lvl="0" indent="0" algn="ctr">
                <a:lnSpc>
                  <a:spcPts val="4199"/>
                </a:lnSpc>
                <a:spcBef>
                  <a:spcPct val="0"/>
                </a:spcBef>
              </a:pPr>
              <a:endParaRPr lang="en-US" sz="2999">
                <a:solidFill>
                  <a:srgbClr val="22343C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409425" y="-47625"/>
              <a:ext cx="7658100" cy="56917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640"/>
                </a:lnSpc>
                <a:spcBef>
                  <a:spcPct val="0"/>
                </a:spcBef>
              </a:pPr>
              <a:r>
                <a:rPr lang="en-US" sz="2600" b="1">
                  <a:solidFill>
                    <a:srgbClr val="2234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934189" y="1320983"/>
            <a:ext cx="11353811" cy="416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99"/>
              </a:lnSpc>
              <a:spcBef>
                <a:spcPct val="0"/>
              </a:spcBef>
            </a:pPr>
            <a:r>
              <a:rPr lang="en-US" sz="5999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PHÁT HIỆN BẤT THƯỜNG TRONG DỮ LIỆU IOT (NHIỆT ĐỘ, ĐỘ ẨM, CẢM BIẾN MÔI TRƯỜNG) BẰNG SPARK STREAMING VÀ KAFKA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8324850" cy="3738191"/>
            <a:chOff x="0" y="0"/>
            <a:chExt cx="11099800" cy="4984254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2343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Bối cảnh và Vấn đề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28753"/>
              <a:ext cx="11099800" cy="29555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Trong bối cảnh nông nghiệp thông minh, việc </a:t>
              </a:r>
              <a:r>
                <a:rPr lang="en-US" sz="3200" b="1">
                  <a:solidFill>
                    <a:srgbClr val="2234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giám sát môi trường theo thời gian thực</a:t>
              </a: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là rất quan trọng để đảm bảo chất lượng và năng suất cây trồng.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819150" y="1304588"/>
            <a:ext cx="8324850" cy="4901601"/>
            <a:chOff x="0" y="66675"/>
            <a:chExt cx="11099800" cy="6535467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2343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Giải pháp đề xuất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028753"/>
              <a:ext cx="11099800" cy="457338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Dự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án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đề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xuất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sử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dụng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Dữ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liệu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lớn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và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Điện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toán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đám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mây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để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phát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hiện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các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bất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thường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trong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thời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gian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thực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từ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dữ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liệu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cảm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biến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IoT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,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đảm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bảo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chất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lượng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cây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trồng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được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cải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thiện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và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năng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suất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được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đảm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bảo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trong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nông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nghiệp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err="1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thông</a:t>
              </a:r>
              <a:r>
                <a:rPr lang="en-US" sz="3200" dirty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</a:t>
              </a:r>
              <a:r>
                <a:rPr lang="en-US" sz="3200" dirty="0" smtClean="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minh.</a:t>
              </a:r>
              <a:endParaRPr lang="en-US" sz="3200" dirty="0">
                <a:solidFill>
                  <a:srgbClr val="22343C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13425" y="0"/>
            <a:ext cx="10874575" cy="10287000"/>
            <a:chOff x="0" y="0"/>
            <a:chExt cx="1684756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4756" cy="1593725"/>
            </a:xfrm>
            <a:custGeom>
              <a:avLst/>
              <a:gdLst/>
              <a:ahLst/>
              <a:cxnLst/>
              <a:rect l="l" t="t" r="r" b="b"/>
              <a:pathLst>
                <a:path w="1684756" h="1593725">
                  <a:moveTo>
                    <a:pt x="0" y="0"/>
                  </a:moveTo>
                  <a:lnTo>
                    <a:pt x="1684756" y="0"/>
                  </a:lnTo>
                  <a:lnTo>
                    <a:pt x="168475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1014" r="-1014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66750" y="666750"/>
            <a:ext cx="6032306" cy="6155371"/>
            <a:chOff x="0" y="0"/>
            <a:chExt cx="8043074" cy="8207161"/>
          </a:xfrm>
        </p:grpSpPr>
        <p:sp>
          <p:nvSpPr>
            <p:cNvPr id="5" name="TextBox 5"/>
            <p:cNvSpPr txBox="1"/>
            <p:nvPr/>
          </p:nvSpPr>
          <p:spPr>
            <a:xfrm>
              <a:off x="0" y="66675"/>
              <a:ext cx="753362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2343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Hệ thống kiến trúc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753060"/>
              <a:ext cx="8043074" cy="44541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Hệ thống kiến trúc cho dự án </a:t>
              </a:r>
              <a:r>
                <a:rPr lang="en-US" sz="3200" b="1">
                  <a:solidFill>
                    <a:srgbClr val="2234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giám sát môi trường theo thời gian thực</a:t>
              </a: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 bao gồm nhiều thành phần IoT, đóng vai trò quan trọng trong việc thu thập và truyền dữ liệu.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666750"/>
            <a:ext cx="8324850" cy="1889706"/>
            <a:chOff x="0" y="0"/>
            <a:chExt cx="11099800" cy="2519608"/>
          </a:xfrm>
        </p:grpSpPr>
        <p:sp>
          <p:nvSpPr>
            <p:cNvPr id="4" name="TextBox 4"/>
            <p:cNvSpPr txBox="1"/>
            <p:nvPr/>
          </p:nvSpPr>
          <p:spPr>
            <a:xfrm>
              <a:off x="0" y="66675"/>
              <a:ext cx="11099800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2343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Thiết bị phần cứng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2047803"/>
              <a:ext cx="110998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781300"/>
            <a:ext cx="12317353" cy="64105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666750"/>
            <a:ext cx="9206598" cy="3004131"/>
            <a:chOff x="0" y="0"/>
            <a:chExt cx="12275464" cy="4005508"/>
          </a:xfrm>
        </p:grpSpPr>
        <p:sp>
          <p:nvSpPr>
            <p:cNvPr id="4" name="TextBox 4"/>
            <p:cNvSpPr txBox="1"/>
            <p:nvPr/>
          </p:nvSpPr>
          <p:spPr>
            <a:xfrm>
              <a:off x="0" y="66675"/>
              <a:ext cx="12275464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2343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Hệ thống xử lý data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33703"/>
              <a:ext cx="110998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1805"/>
          <a:stretch/>
        </p:blipFill>
        <p:spPr>
          <a:xfrm>
            <a:off x="2565730" y="2476500"/>
            <a:ext cx="12851739" cy="678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66750" y="666750"/>
            <a:ext cx="9206598" cy="3004131"/>
            <a:chOff x="0" y="0"/>
            <a:chExt cx="12275464" cy="4005508"/>
          </a:xfrm>
        </p:grpSpPr>
        <p:sp>
          <p:nvSpPr>
            <p:cNvPr id="4" name="TextBox 4"/>
            <p:cNvSpPr txBox="1"/>
            <p:nvPr/>
          </p:nvSpPr>
          <p:spPr>
            <a:xfrm>
              <a:off x="0" y="66675"/>
              <a:ext cx="12275464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2343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Hệ thống xử lý data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3533703"/>
              <a:ext cx="110998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/>
            </a:p>
          </p:txBody>
        </p:sp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705100"/>
            <a:ext cx="14028419" cy="6400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0000171" cy="3004131"/>
            <a:chOff x="0" y="0"/>
            <a:chExt cx="13333561" cy="4005508"/>
          </a:xfrm>
        </p:grpSpPr>
        <p:sp>
          <p:nvSpPr>
            <p:cNvPr id="3" name="TextBox 3"/>
            <p:cNvSpPr txBox="1"/>
            <p:nvPr/>
          </p:nvSpPr>
          <p:spPr>
            <a:xfrm>
              <a:off x="0" y="66675"/>
              <a:ext cx="13333561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2343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Phát hiện bất thường 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33703"/>
              <a:ext cx="110998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57678" y="2998957"/>
            <a:ext cx="9018315" cy="3579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just">
              <a:lnSpc>
                <a:spcPts val="5760"/>
              </a:lnSpc>
              <a:buFont typeface="Arial"/>
              <a:buChar char="•"/>
            </a:pPr>
            <a:r>
              <a:rPr lang="en-US" sz="360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Phương pháp Unsupervised</a:t>
            </a:r>
          </a:p>
          <a:p>
            <a:pPr marL="777240" lvl="1" indent="-388620" algn="just">
              <a:lnSpc>
                <a:spcPts val="5760"/>
              </a:lnSpc>
              <a:buFont typeface="Arial"/>
              <a:buChar char="•"/>
            </a:pPr>
            <a:r>
              <a:rPr lang="en-US" sz="360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Sử dụng Z-score</a:t>
            </a:r>
          </a:p>
          <a:p>
            <a:pPr marL="777240" lvl="1" indent="-388620" algn="just">
              <a:lnSpc>
                <a:spcPts val="5760"/>
              </a:lnSpc>
              <a:buFont typeface="Arial"/>
              <a:buChar char="•"/>
            </a:pPr>
            <a:r>
              <a:rPr lang="en-US" sz="360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Tính mean, std theo sliding window</a:t>
            </a:r>
          </a:p>
          <a:p>
            <a:pPr marL="777240" lvl="1" indent="-388620" algn="just">
              <a:lnSpc>
                <a:spcPts val="5760"/>
              </a:lnSpc>
              <a:buFont typeface="Arial"/>
              <a:buChar char="•"/>
            </a:pPr>
            <a:r>
              <a:rPr lang="en-US" sz="360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|Z-score| ≥ 3 → Anomaly</a:t>
            </a:r>
          </a:p>
          <a:p>
            <a:pPr marL="777240" lvl="1" indent="-388620" algn="just">
              <a:lnSpc>
                <a:spcPts val="5760"/>
              </a:lnSpc>
              <a:buFont typeface="Arial"/>
              <a:buChar char="•"/>
            </a:pPr>
            <a:r>
              <a:rPr lang="en-US" sz="360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Lưu &amp; giám sát qua InfluxDB, PostgreSQL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10000171" cy="3004131"/>
            <a:chOff x="0" y="0"/>
            <a:chExt cx="13333561" cy="4005508"/>
          </a:xfrm>
        </p:grpSpPr>
        <p:sp>
          <p:nvSpPr>
            <p:cNvPr id="3" name="TextBox 3"/>
            <p:cNvSpPr txBox="1"/>
            <p:nvPr/>
          </p:nvSpPr>
          <p:spPr>
            <a:xfrm>
              <a:off x="0" y="66675"/>
              <a:ext cx="13333561" cy="15546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2343C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Demo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533703"/>
              <a:ext cx="11099800" cy="471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2803021"/>
            <a:ext cx="16216982" cy="50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</a:pPr>
            <a:r>
              <a:rPr lang="en-US" sz="350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Link github: </a:t>
            </a:r>
            <a:r>
              <a:rPr lang="en-US" sz="3500" u="sng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  <a:hlinkClick r:id="rId2" tooltip="https://github.com/buuhq-uit/uit-bigdata-cloud-team32/"/>
              </a:rPr>
              <a:t>GitHub - buuhq-uit/uit-bigdata-cloud-team32: uit-bigdata-cloud-team32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49184" y="557557"/>
            <a:ext cx="9911996" cy="9171886"/>
            <a:chOff x="0" y="0"/>
            <a:chExt cx="13215995" cy="12229181"/>
          </a:xfrm>
        </p:grpSpPr>
        <p:sp>
          <p:nvSpPr>
            <p:cNvPr id="5" name="TextBox 5"/>
            <p:cNvSpPr txBox="1"/>
            <p:nvPr/>
          </p:nvSpPr>
          <p:spPr>
            <a:xfrm>
              <a:off x="313510" y="66675"/>
              <a:ext cx="11099800" cy="30405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8800"/>
                </a:lnSpc>
              </a:pPr>
              <a:r>
                <a:rPr lang="en-US" sz="8000">
                  <a:solidFill>
                    <a:srgbClr val="22343C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Kết luận và Hướng phát triển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3514653"/>
              <a:ext cx="13215995" cy="871452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Kết luận</a:t>
              </a:r>
            </a:p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- Hệ thống hoạt động ổn định với dữ liệu realtime</a:t>
              </a:r>
            </a:p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- Phát hiện được bất thường trên nhiều loại cảm biến</a:t>
              </a:r>
            </a:p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- Kiến trúc mở rộng, tách biệt ingestion – processing – storage</a:t>
              </a:r>
            </a:p>
            <a:p>
              <a:pPr marL="0" lvl="0" indent="0" algn="l">
                <a:lnSpc>
                  <a:spcPts val="4480"/>
                </a:lnSpc>
              </a:pPr>
              <a:endParaRPr lang="en-US" sz="3200">
                <a:solidFill>
                  <a:srgbClr val="22343C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Hướng phát triển</a:t>
              </a:r>
            </a:p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- Thay Z-score bằng Isolation Forest / Autoencoder</a:t>
              </a:r>
            </a:p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- Tích hợp MQTT cho IoT thực tế</a:t>
              </a:r>
            </a:p>
            <a:p>
              <a:pPr marL="0" lvl="0" indent="0" algn="l">
                <a:lnSpc>
                  <a:spcPts val="4480"/>
                </a:lnSpc>
              </a:pPr>
              <a:r>
                <a:rPr lang="en-US" sz="3200">
                  <a:solidFill>
                    <a:srgbClr val="22343C"/>
                  </a:solidFill>
                  <a:latin typeface="DM Sans"/>
                  <a:ea typeface="DM Sans"/>
                  <a:cs typeface="DM Sans"/>
                  <a:sym typeface="DM Sans"/>
                </a:rPr>
                <a:t>- Triển khai cloud (AWS / GCP)</a:t>
              </a:r>
            </a:p>
            <a:p>
              <a:pPr marL="0" lvl="0" indent="0" algn="l">
                <a:lnSpc>
                  <a:spcPts val="2940"/>
                </a:lnSpc>
              </a:pPr>
              <a:endParaRPr lang="en-US" sz="3200">
                <a:solidFill>
                  <a:srgbClr val="22343C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34675" y="0"/>
            <a:ext cx="7553325" cy="10287000"/>
            <a:chOff x="0" y="0"/>
            <a:chExt cx="1170208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0208" cy="1593725"/>
            </a:xfrm>
            <a:custGeom>
              <a:avLst/>
              <a:gdLst/>
              <a:ahLst/>
              <a:cxnLst/>
              <a:rect l="l" t="t" r="r" b="b"/>
              <a:pathLst>
                <a:path w="1170208" h="1593725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205" b="-205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609600" y="2153473"/>
            <a:ext cx="10058401" cy="46166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000"/>
              </a:lnSpc>
              <a:spcBef>
                <a:spcPct val="0"/>
              </a:spcBef>
            </a:pPr>
            <a:r>
              <a:rPr lang="en-US" sz="12000" dirty="0" err="1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Cảm</a:t>
            </a:r>
            <a:r>
              <a:rPr lang="en-US" sz="12000" dirty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</a:t>
            </a:r>
            <a:r>
              <a:rPr lang="en-US" sz="12000" dirty="0" err="1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ơn</a:t>
            </a:r>
            <a:r>
              <a:rPr lang="en-US" sz="12000" dirty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</a:t>
            </a:r>
            <a:r>
              <a:rPr lang="en-US" sz="12000" dirty="0" err="1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thầy</a:t>
            </a:r>
            <a:r>
              <a:rPr lang="en-US" sz="12000" dirty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</a:t>
            </a:r>
            <a:r>
              <a:rPr lang="en-US" sz="12000" dirty="0" err="1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và</a:t>
            </a:r>
            <a:r>
              <a:rPr lang="en-US" sz="12000" dirty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</a:t>
            </a:r>
            <a:r>
              <a:rPr lang="vi-VN" sz="12000" dirty="0" smtClean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các </a:t>
            </a:r>
            <a:r>
              <a:rPr lang="en-US" sz="12000" dirty="0" err="1" smtClean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anh</a:t>
            </a:r>
            <a:r>
              <a:rPr lang="en-US" sz="12000" dirty="0" smtClean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/</a:t>
            </a:r>
            <a:r>
              <a:rPr lang="en-US" sz="12000" dirty="0" err="1" smtClean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chị</a:t>
            </a:r>
            <a:r>
              <a:rPr lang="en-US" sz="12000" dirty="0" smtClean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</a:t>
            </a:r>
            <a:r>
              <a:rPr lang="en-US" sz="12000" dirty="0" err="1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đã</a:t>
            </a:r>
            <a:r>
              <a:rPr lang="en-US" sz="12000" dirty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</a:t>
            </a:r>
            <a:r>
              <a:rPr lang="en-US" sz="12000" dirty="0" err="1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lắng</a:t>
            </a:r>
            <a:r>
              <a:rPr lang="en-US" sz="12000" dirty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</a:t>
            </a:r>
            <a:r>
              <a:rPr lang="en-US" sz="12000" dirty="0" err="1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nghe</a:t>
            </a:r>
            <a:r>
              <a:rPr lang="en-US" sz="12000" dirty="0">
                <a:solidFill>
                  <a:srgbClr val="22343C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 !!!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321</Words>
  <Application>Microsoft Office PowerPoint</Application>
  <PresentationFormat>Custom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Georgia Pro Light</vt:lpstr>
      <vt:lpstr>Georgia Pro</vt:lpstr>
      <vt:lpstr>Arial</vt:lpstr>
      <vt:lpstr>DM Sans Bold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thuyết trình - Anomaly Detection</dc:title>
  <dc:description>Bài thuyết trình - Anomaly Detection</dc:description>
  <cp:lastModifiedBy>Tran Thien</cp:lastModifiedBy>
  <cp:revision>3</cp:revision>
  <dcterms:created xsi:type="dcterms:W3CDTF">2006-08-16T00:00:00Z</dcterms:created>
  <dcterms:modified xsi:type="dcterms:W3CDTF">2026-01-14T17:20:04Z</dcterms:modified>
  <dc:identifier>DAG-aNEo39c</dc:identifier>
</cp:coreProperties>
</file>