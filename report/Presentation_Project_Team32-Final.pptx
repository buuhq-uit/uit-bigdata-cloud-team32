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5" r:id="rId7"/>
    <p:sldId id="266" r:id="rId8"/>
    <p:sldId id="267" r:id="rId9"/>
    <p:sldId id="270" r:id="rId10"/>
    <p:sldId id="274" r:id="rId11"/>
    <p:sldId id="278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20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6879" y="638385"/>
            <a:ext cx="4130063" cy="78970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 CÁO MÔN HỌC: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2348" y="5495424"/>
            <a:ext cx="5725826" cy="121573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nhóm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32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Huỳnh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quốc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bữu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	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240104026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Trần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võ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240104052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BE50C9-20AC-EDF5-B2DE-A3BFBA9A630C}"/>
              </a:ext>
            </a:extLst>
          </p:cNvPr>
          <p:cNvSpPr txBox="1">
            <a:spLocks/>
          </p:cNvSpPr>
          <p:nvPr/>
        </p:nvSpPr>
        <p:spPr>
          <a:xfrm>
            <a:off x="1323888" y="1119276"/>
            <a:ext cx="10402710" cy="11064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BIG DATA AND CLOUD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COMPUTING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23E9B1-8345-8161-3F80-38E77146F7EA}"/>
              </a:ext>
            </a:extLst>
          </p:cNvPr>
          <p:cNvSpPr txBox="1">
            <a:spLocks/>
          </p:cNvSpPr>
          <p:nvPr/>
        </p:nvSpPr>
        <p:spPr>
          <a:xfrm>
            <a:off x="4599447" y="2432151"/>
            <a:ext cx="2904477" cy="6062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6D0FE9-EBC1-0CFA-0956-F0C80A8EB7FC}"/>
              </a:ext>
            </a:extLst>
          </p:cNvPr>
          <p:cNvSpPr txBox="1">
            <a:spLocks/>
          </p:cNvSpPr>
          <p:nvPr/>
        </p:nvSpPr>
        <p:spPr>
          <a:xfrm>
            <a:off x="940129" y="2986273"/>
            <a:ext cx="11170227" cy="17976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 HIỆN BẤT THƯỜNG TRONG DỮ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IOT (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nhiệt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ẩm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...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endParaRPr lang="en-US" sz="38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 DỤNG 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SPARK VÀ KAFKA</a:t>
            </a:r>
            <a:endParaRPr lang="en-US" sz="38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3B7BF4A-1ECF-FBD0-260E-CA5FAC8BD357}"/>
              </a:ext>
            </a:extLst>
          </p:cNvPr>
          <p:cNvSpPr txBox="1">
            <a:spLocks/>
          </p:cNvSpPr>
          <p:nvPr/>
        </p:nvSpPr>
        <p:spPr>
          <a:xfrm>
            <a:off x="6606886" y="5533373"/>
            <a:ext cx="5725826" cy="10426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Giảng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Ts. Nguyễn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dung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73D2EE8-D8CF-0051-3E36-A48046D6B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1781618"/>
            <a:ext cx="1144573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thiệu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alt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bị</a:t>
            </a:r>
            <a:r>
              <a:rPr lang="en-US" alt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alt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cứng</a:t>
            </a:r>
            <a:r>
              <a:rPr lang="en-US" alt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(sensors)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Phương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Kịch</a:t>
            </a:r>
            <a:r>
              <a:rPr lang="en-US" alt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</a:t>
            </a:r>
            <a:r>
              <a:rPr lang="en-US" alt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demo </a:t>
            </a:r>
            <a:r>
              <a:rPr lang="en-US" alt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alt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demo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1AB5-DB60-61D9-F252-9975763D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0755" y="90179"/>
            <a:ext cx="3981043" cy="919335"/>
          </a:xfrm>
        </p:spPr>
        <p:txBody>
          <a:bodyPr>
            <a:normAutofit/>
          </a:bodyPr>
          <a:lstStyle/>
          <a:p>
            <a:r>
              <a:rPr lang="en-US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GIỚI THIỆU</a:t>
            </a:r>
            <a:endParaRPr lang="en-US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BC6331C-7B96-5381-EAEB-3C3922914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646" y="1884527"/>
            <a:ext cx="514162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Nông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nghiệp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IoT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tục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khối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lớn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Các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truyền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chủ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yếu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thị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sớm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rủi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D6BB476-20CE-4615-2ED4-9B2E57ED7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277" y="1884526"/>
            <a:ext cx="514162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Big Data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IoT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lô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nhiệt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hỗ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5D45D6-8B38-9045-3016-B283D003583B}"/>
              </a:ext>
            </a:extLst>
          </p:cNvPr>
          <p:cNvSpPr txBox="1">
            <a:spLocks/>
          </p:cNvSpPr>
          <p:nvPr/>
        </p:nvSpPr>
        <p:spPr>
          <a:xfrm>
            <a:off x="8248591" y="978152"/>
            <a:ext cx="2437421" cy="746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 TIÊU</a:t>
            </a:r>
            <a:endParaRPr lang="en-US" sz="28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96591F-028B-7AF0-117A-1FB70A944AE8}"/>
              </a:ext>
            </a:extLst>
          </p:cNvPr>
          <p:cNvSpPr txBox="1">
            <a:spLocks/>
          </p:cNvSpPr>
          <p:nvPr/>
        </p:nvSpPr>
        <p:spPr>
          <a:xfrm>
            <a:off x="2058386" y="1089295"/>
            <a:ext cx="2933603" cy="52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 LỰC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49715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53AD-4E28-8AC5-0EC3-3513815B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4" y="60918"/>
            <a:ext cx="5249862" cy="914595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DE083EF-55B8-0515-5A2C-76BEB1DD7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04" y="2130294"/>
            <a:ext cx="4563196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rõ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Ingestion - Processing - Storage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Kafka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mở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rộng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dễ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B16F0-6A84-1DDD-69C2-85C44200F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4" y="0"/>
            <a:ext cx="5876925" cy="6859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29E5D5-08DA-8BBE-1490-3AA15115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80" y="961310"/>
            <a:ext cx="5134692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E21B-8E82-9C17-681A-73F2AD83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9363"/>
            <a:ext cx="9905998" cy="147857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bị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cứng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(sensors)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C3A49-ABB3-BB9E-EE66-1DBDFCDBF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23" y="1432547"/>
            <a:ext cx="9823776" cy="511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8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1F32-803E-3D6D-6060-6B641E551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369F-D0DF-F358-96EA-9728B1A6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47937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endParaRPr lang="en-US" sz="2800" b="1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170E973-48FB-DB25-768D-541FDE87A075}"/>
              </a:ext>
            </a:extLst>
          </p:cNvPr>
          <p:cNvSpPr txBox="1"/>
          <p:nvPr/>
        </p:nvSpPr>
        <p:spPr>
          <a:xfrm>
            <a:off x="897905" y="2197893"/>
            <a:ext cx="9018315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Phương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pháp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Unsupervised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Sử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dụng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Z-score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Tính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mean, std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theo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sliding window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|Z-score| ≥ 3 → Anomaly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Lưu &amp;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giám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sát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qua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InfluxDB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, PostgreSQL</a:t>
            </a:r>
          </a:p>
        </p:txBody>
      </p:sp>
    </p:spTree>
    <p:extLst>
      <p:ext uri="{BB962C8B-B14F-4D97-AF65-F5344CB8AC3E}">
        <p14:creationId xmlns:p14="http://schemas.microsoft.com/office/powerpoint/2010/main" val="231469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01B6-3E25-25D1-3700-D0332C0F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0D18-9E82-48CF-B77B-DD5EFDA0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474" y="59559"/>
            <a:ext cx="9905998" cy="1147937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58F035-C439-6F5E-7A1B-2251D8E2B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617" y="1132247"/>
            <a:ext cx="2430414" cy="2891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104AD2-F74C-0E96-BC49-A90C9D530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811" y="1115376"/>
            <a:ext cx="2676899" cy="4515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05452E-A146-713F-32C8-380EED396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110" y="1132646"/>
            <a:ext cx="7394358" cy="46482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5FE11B-CFE6-60F3-3327-27BA6FCCDECA}"/>
              </a:ext>
            </a:extLst>
          </p:cNvPr>
          <p:cNvSpPr txBox="1"/>
          <p:nvPr/>
        </p:nvSpPr>
        <p:spPr>
          <a:xfrm>
            <a:off x="77489" y="5951349"/>
            <a:ext cx="12104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https://github.com/buuhq-uit/uit-bigdata-cloud-team32</a:t>
            </a:r>
          </a:p>
        </p:txBody>
      </p:sp>
    </p:spTree>
    <p:extLst>
      <p:ext uri="{BB962C8B-B14F-4D97-AF65-F5344CB8AC3E}">
        <p14:creationId xmlns:p14="http://schemas.microsoft.com/office/powerpoint/2010/main" val="440676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70C4-6B1E-3382-2718-E3DCD488D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CC49-8ECE-DC93-3B98-3A883C4C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72" y="53563"/>
            <a:ext cx="8831926" cy="85737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Kịch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demo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demo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1C183E-D0F8-C74E-FF4D-99D0A94D4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13" y="910933"/>
            <a:ext cx="4353533" cy="35437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3D7597-664A-0C8C-8305-6485C61B1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631" y="566576"/>
            <a:ext cx="4982270" cy="38676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2DD297-E180-1EEF-A053-E96A8F2E3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9" y="910933"/>
            <a:ext cx="2343477" cy="16671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646354-8595-30F3-E96A-8EB1FBFCF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7824" y="4462600"/>
            <a:ext cx="3905795" cy="8573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FAA8022-507F-E81C-9B49-DAB83ADAC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7824" y="5349285"/>
            <a:ext cx="4439270" cy="152421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2B045B-92F3-5A24-6716-063768BFE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230" y="4530699"/>
            <a:ext cx="3143689" cy="214342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F784FC9-DF5E-E29A-EBCA-4E4AF43979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858" y="4530699"/>
            <a:ext cx="318179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7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B7C9-E9DC-1AFC-876D-08EE8675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2E64-3247-EBA8-8045-43CF8FBF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474" y="59559"/>
            <a:ext cx="9905998" cy="1147937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C2AAD-3F2F-94B4-1280-FC6AC5EDCAC1}"/>
              </a:ext>
            </a:extLst>
          </p:cNvPr>
          <p:cNvSpPr txBox="1"/>
          <p:nvPr/>
        </p:nvSpPr>
        <p:spPr>
          <a:xfrm>
            <a:off x="1226474" y="1028700"/>
            <a:ext cx="10764983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4480"/>
              </a:lnSpc>
            </a:pP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Kết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luận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Hệ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thống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hoạt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động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ổn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định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với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dữ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liệu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realtime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Phát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hiện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được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bất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thường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áp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dụng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spark </a:t>
            </a:r>
          </a:p>
          <a:p>
            <a:pPr marL="457200" lvl="0" indent="-457200">
              <a:lnSpc>
                <a:spcPts val="4480"/>
              </a:lnSpc>
              <a:buFontTx/>
              <a:buChar char="-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Kiến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trúc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mở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rộng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tách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biệt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ingestion – processing – storage</a:t>
            </a:r>
          </a:p>
          <a:p>
            <a:pPr marL="457200" lvl="0" indent="-457200">
              <a:lnSpc>
                <a:spcPts val="4480"/>
              </a:lnSpc>
              <a:buFontTx/>
              <a:buChar char="-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Cloud Ready</a:t>
            </a:r>
          </a:p>
          <a:p>
            <a:pPr lvl="0">
              <a:lnSpc>
                <a:spcPts val="4480"/>
              </a:lnSpc>
            </a:pP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Hướng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phát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triển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 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Áp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dụng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them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các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ML (LLM) Models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để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phát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hiện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bất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thường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marL="457200" lvl="0" indent="-457200">
              <a:lnSpc>
                <a:spcPts val="4480"/>
              </a:lnSpc>
              <a:buFontTx/>
              <a:buChar char="-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Tích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hợp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thêm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các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giao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thức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IoT (Zigbee,…)</a:t>
            </a:r>
          </a:p>
          <a:p>
            <a:pPr marL="457200" lvl="0" indent="-457200">
              <a:lnSpc>
                <a:spcPts val="4480"/>
              </a:lnSpc>
              <a:buFontTx/>
              <a:buChar char="-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Thêm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web-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ui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và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mobile app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phía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user</a:t>
            </a: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 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Triển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khai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trên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cloud native (k8s)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và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cloud public (AWS / GCP)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62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303C-215E-A093-3C76-80118379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9D75-AB0B-7D42-1E1E-16D35775A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919" y="4834187"/>
            <a:ext cx="6319261" cy="1595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ơn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thầy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lắng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61C0FA9-45A0-E908-C638-03653B82EFF3}"/>
              </a:ext>
            </a:extLst>
          </p:cNvPr>
          <p:cNvGrpSpPr/>
          <p:nvPr/>
        </p:nvGrpSpPr>
        <p:grpSpPr>
          <a:xfrm>
            <a:off x="7113181" y="0"/>
            <a:ext cx="5078819" cy="6858000"/>
            <a:chOff x="0" y="0"/>
            <a:chExt cx="1170208" cy="159372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A037D61E-232B-FC22-F95F-52BFCA63D881}"/>
                </a:ext>
              </a:extLst>
            </p:cNvPr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050" name="Picture 2" descr="61,100+ Q&amp;A Stock Illustrations, Royalty-Free Vector Graphics &amp; Clip Art -  iStock | Questions, Faq icon, Faq infographic">
            <a:extLst>
              <a:ext uri="{FF2B5EF4-FFF2-40B4-BE49-F238E27FC236}">
                <a16:creationId xmlns:a16="http://schemas.microsoft.com/office/drawing/2014/main" id="{537CC88B-A70D-79EE-B502-5378E3F9E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7" y="0"/>
            <a:ext cx="7116357" cy="445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9222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490</TotalTime>
  <Words>418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Tahoma</vt:lpstr>
      <vt:lpstr>Tw Cen MT</vt:lpstr>
      <vt:lpstr>Wingdings</vt:lpstr>
      <vt:lpstr>Circuit</vt:lpstr>
      <vt:lpstr>BÁO CÁO MÔN HỌC: </vt:lpstr>
      <vt:lpstr>Nội dung</vt:lpstr>
      <vt:lpstr>GIỚI THIỆU</vt:lpstr>
      <vt:lpstr>Thiết kế hệ thống</vt:lpstr>
      <vt:lpstr>ThiếT bị phần cứng (sensors)</vt:lpstr>
      <vt:lpstr>Phương pháp phát hiện bất thường</vt:lpstr>
      <vt:lpstr>Triển khai và kết quả đạt được</vt:lpstr>
      <vt:lpstr>Kịch bản demo và demo</vt:lpstr>
      <vt:lpstr>Kết luận và hướng phát triển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MÔN HỌC:</dc:title>
  <dc:creator>BOO HUYNH</dc:creator>
  <cp:lastModifiedBy>BOO HUYNH</cp:lastModifiedBy>
  <cp:revision>26</cp:revision>
  <dcterms:created xsi:type="dcterms:W3CDTF">2026-01-17T11:48:25Z</dcterms:created>
  <dcterms:modified xsi:type="dcterms:W3CDTF">2026-01-22T07:57:55Z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